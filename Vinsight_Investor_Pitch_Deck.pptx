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560320"/>
            <a:ext cx="1828800" cy="54864"/>
          </a:xfrm>
          <a:prstGeom prst="roundRect">
            <a:avLst/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VINSIGHT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9AF0"/>
                </a:solidFill>
                <a:latin typeface="Calibri"/>
              </a:defRPr>
            </a:pPr>
            <a:r>
              <a:t>The AI Conviction Engine for the Next Generation of Investors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Replacing the $200/hr Junior Analyst with an AI that shows its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Seed Round  ·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$1.7 Trillion Lost to Bad Decisions Every Year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Analysis Paralysis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38% of investors say picking</a:t>
            </a:r>
            <a:br/>
            <a:r>
              <a:t>a stock is harder than choosing</a:t>
            </a:r>
            <a:br/>
            <a:r>
              <a:t>a life partner.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Source: Barclays/Schwab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Trust Crisis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36% of Gen Z/Millennials use</a:t>
            </a:r>
            <a:br/>
            <a:r>
              <a:t>Social Media as their PRIMARY</a:t>
            </a:r>
            <a:br/>
            <a:r>
              <a:t>investment research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Source: Fidelity 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9184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Performance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Retail investors underperform</a:t>
            </a:r>
            <a:br/>
            <a:r>
              <a:t>the S&amp;P 500 by 8.48%</a:t>
            </a:r>
            <a:br/>
            <a:r>
              <a:t>every single year.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Source: DALBAR QAIB 2024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E1E3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6B"/>
                </a:solidFill>
                <a:latin typeface="Calibri"/>
              </a:defRPr>
            </a:pPr>
            <a:r>
              <a:t>The Gap: Bloomberg costs $27,660/yr. ChatGPT hallucinates. There is NOTHING in between.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51.5 Million Investors Need a Second Opinion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96012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AF0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51.5M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All US Retail Investors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880360"/>
            <a:ext cx="77724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5CFC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~20M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"Active but Paralyzed"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931920"/>
            <a:ext cx="59436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977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1CF66"/>
                </a:solidFill>
                <a:latin typeface="Calibri"/>
              </a:defRPr>
            </a:pPr>
            <a:r>
              <a:t>Beachhead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977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~2M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Alpha Seekers (Core-Satellite)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983479"/>
            <a:ext cx="41148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43B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02919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10K DAU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Target: Community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828800"/>
            <a:ext cx="4572000" cy="4389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9AF0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$0/mo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3 lookups/day, basic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$20/mo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Unlimited, 5 personas, Monte Carlo,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$49/mo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617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Portfolio analysis, PDF reports,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C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&lt;$15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LTV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$240+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LTV/CAC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&gt;16x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75-85%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Source: Fidelity Q2 2024, Vanguard/Saxo Bank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Vinsight: Your AI Analyst in 8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73736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Calibri"/>
              </a:defRPr>
            </a:pPr>
            <a:r>
              <a:t>Type Ticker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User enters any</a:t>
            </a:r>
            <a:br/>
            <a:r>
              <a:t>stock symbol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73736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965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Calibri"/>
              </a:defRPr>
            </a:pPr>
            <a:r>
              <a:t>Data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Real-time Price,</a:t>
            </a:r>
            <a:br/>
            <a:r>
              <a:t>Financials, Insiders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173736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965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Calibri"/>
              </a:defRPr>
            </a:pPr>
            <a:r>
              <a:t>CFA 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Quality 70%</a:t>
            </a:r>
            <a:br/>
            <a:r>
              <a:t>+ Timing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173736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9AF0"/>
                </a:solidFill>
                <a:latin typeface="Calibri"/>
              </a:defRPr>
            </a:pPr>
            <a:r>
              <a:t>AI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Chain-of-Thought</a:t>
            </a:r>
            <a:br/>
            <a:r>
              <a:t>Bull/Bear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173736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965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Kill Switches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Insolvency /</a:t>
            </a:r>
            <a:br/>
            <a:r>
              <a:t>Overvaluation Veto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1828800"/>
            <a:ext cx="173736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1965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560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1CF66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0175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Score · Rating ·</a:t>
            </a:r>
            <a:br/>
            <a:r>
              <a:t>Risk Factors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9AF0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Every score comes with a "Why" — the AI's chain-of-thought reasoning, sector benchmarks, and risk factors.</a:t>
            </a:r>
            <a:br/>
            <a:r>
              <a:t>We don't just say "Buy" — we say "Buy because FCF Yield is 2x sector median, but watch the Debt/EBITDA ratio."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C"/>
                </a:solidFill>
                <a:latin typeface="Calibri"/>
              </a:defRPr>
            </a:pPr>
            <a:r>
              <a:t>OUR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Meet "Jordan" — The Educated Skeptic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11480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C"/>
                </a:solidFill>
                <a:latin typeface="Calibri"/>
              </a:defRPr>
            </a:pPr>
            <a:r>
              <a:t>👤 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→  27 years old, Tech/Corporate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632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→  $85K income, $10K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→  Needs 15%+ returns for life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→  Works 9-6 — zero time for 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→  Sees hot tips on Twitter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→  Terrified of being the 'Bag Holder'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612648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43B"/>
                </a:solidFill>
                <a:latin typeface="Calibri"/>
              </a:defRPr>
            </a:pPr>
            <a:r>
              <a:t>❌ Without Vinsight 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86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Googles for 3 hours</a:t>
            </a:r>
            <a:br/>
            <a:r>
              <a:t>Gets MORE confused</a:t>
            </a:r>
            <a:br/>
            <a:r>
              <a:t>Doesn't buy</a:t>
            </a:r>
            <a:br/>
            <a:r>
              <a:t>→ Paralysis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383280"/>
            <a:ext cx="612648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❌ Without Vinsight 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8404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YOLOs $2,000</a:t>
            </a:r>
            <a:br/>
            <a:r>
              <a:t>Based on vibes</a:t>
            </a:r>
            <a:br/>
            <a:r>
              <a:t>Loses 40%</a:t>
            </a:r>
            <a:br/>
            <a:r>
              <a:t>→ Bag Holder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937760"/>
            <a:ext cx="612648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✅ With Vinsight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3949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Types ticker</a:t>
            </a:r>
            <a:br/>
            <a:r>
              <a:t>Gets verdict in 8 sec</a:t>
            </a:r>
            <a:br/>
            <a:r>
              <a:t>Score: 38/100</a:t>
            </a:r>
            <a:br/>
            <a:r>
              <a:t>→ Saves $2,000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9AF0"/>
                </a:solidFill>
                <a:latin typeface="Calibri"/>
              </a:defRPr>
            </a:pPr>
            <a: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CFA-Grade Scoring: Not a ChatGPT Wrapper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AF0"/>
                </a:solidFill>
                <a:latin typeface="Calibri"/>
              </a:defRPr>
            </a:pPr>
            <a:r>
              <a:t>Layer 1: The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PEG Ratio (20 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FCF Yield (15 pts)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ROE (15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210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Debt/EBITDA (15 pts)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050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Revenue Growth (10 pts)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Altman Z-Score (5 pts)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73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Gross Margin Trend (10 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572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55412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15 sector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25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Quarterly calibration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56616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  <a:latin typeface="Calibri"/>
              </a:defRPr>
            </a:pPr>
            <a:r>
              <a:t>Layer 2: The 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Chain-of-Thought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52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 investment personas: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CFA · Momentum · Income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210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Value ·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050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Bull/Bear case always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Confidence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73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Dual AI providers: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572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Llama 3.3 → Gemini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5412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→ Formula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925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Zero single points of failure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828800"/>
            <a:ext cx="356616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Layer 3: Kill Switches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🔴 Insolvency Veto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52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Coverage &lt; 1.5x → Cap 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412480" y="362102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🟡 Overvaluation Veto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050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PEG &gt; 4.0 → Cap 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412480" y="4773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⚫ Downtrend Veto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1572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Price &lt; SMA50 &amp; SMA200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5412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  → Cap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925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BUILT &amp;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Signal Detection: Insider + Monte Carlo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5CFC"/>
                </a:solidFill>
                <a:latin typeface="Calibri"/>
              </a:defRPr>
            </a:pPr>
            <a:r>
              <a:t>🕵️  Insider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AF0"/>
                </a:solidFill>
                <a:latin typeface="Calibri"/>
              </a:defRPr>
            </a:pPr>
            <a:r>
              <a:t>What Others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9AF0"/>
                </a:solidFill>
                <a:latin typeface="Calibri"/>
              </a:defRPr>
            </a:pPr>
            <a:r>
              <a:t>What Vinsight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"CEO sold 10K shares"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"Routine RSU vesting — Noise. Ignore."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"3 insiders sold in 2 weeks"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"🔴 CLUSTER SELLING — High Alert"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"Director bought $500K"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"🟢 EXECUTIVE BUYING — Conviction"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Filters: RSU/10b5-1 auto-transactions excluded</a:t>
            </a:r>
            <a:br/>
            <a:r>
              <a:t>Cluster = 3+ sells in 14 days</a:t>
            </a:r>
            <a:br/>
            <a:r>
              <a:t>Executive-level weighted higher</a:t>
            </a:r>
            <a:br/>
            <a:r>
              <a:t>Academic backing: Lakonishok &amp; Lee (2001)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48640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📈  Monte Carlo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1CF66"/>
                </a:solidFill>
                <a:latin typeface="Calibri"/>
              </a:defRPr>
            </a:pPr>
            <a:r>
              <a:t>Paths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10,000 simulations × 90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1CF66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Vectorized NumPy (&lt; 2 sec)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1CF66"/>
                </a:solidFill>
                <a:latin typeface="Calibri"/>
              </a:defRPr>
            </a:pPr>
            <a:r>
              <a:t>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95% confidence risk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1CF66"/>
                </a:solidFill>
                <a:latin typeface="Calibri"/>
              </a:defRPr>
            </a:pPr>
            <a:r>
              <a:t>Probabilities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+5%, +10%, +25%, -10%, -25%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1CF66"/>
                </a:solidFill>
                <a:latin typeface="Calibri"/>
              </a:defRPr>
            </a:pPr>
            <a:r>
              <a:t>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Full histogram of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"What are my chances of making 10%?"</a:t>
            </a:r>
            <a:br/>
            <a:r>
              <a:t>Answered with statistical rigor, not opinions.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43B"/>
                </a:solidFill>
                <a:latin typeface="Calibri"/>
              </a:defRPr>
            </a:pPr>
            <a: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Why Not Just Use ChatGPT?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39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/ Perplexity</a:t>
                      </a:r>
                    </a:p>
                  </a:txBody>
                  <a:tcPr>
                    <a:solidFill>
                      <a:srgbClr val="339A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Vinsight</a:t>
                      </a:r>
                    </a:p>
                  </a:txBody>
                  <a:tcPr>
                    <a:solidFill>
                      <a:srgbClr val="339A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Real-Time Data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Training cutoff or web search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Live market + financials + insiders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Scoring Framework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Different answer every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CFA-calibrated 0-100, reproducible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Sector Context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Treats Tech = Utilities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15 sector benchmark profiles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Risk Controls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Will praise bankrupt companies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Kill switches prevent bad ratings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Insider Data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No SEC Form 4 access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Filtered cluster/executive detection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Monte Carlo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Cannot run simulations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10,000-path vectorized projection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Consistency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  Ask twice, 2 different answers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 Algo base = ±5% variance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$20/mo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$20/mo — 10x the depth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126480"/>
            <a:ext cx="10698480" cy="548640"/>
          </a:xfrm>
          <a:prstGeom prst="roundRect">
            <a:avLst/>
          </a:prstGeom>
          <a:solidFill>
            <a:srgbClr val="1E1E38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43B"/>
                </a:solidFill>
                <a:latin typeface="Calibri"/>
              </a:defRPr>
            </a:pPr>
            <a:r>
              <a:t>ChatGPT tells you ABOUT a stock. Vinsight tells you WHETHER TO BUY — and shows the math.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9AF0"/>
                </a:solidFill>
                <a:latin typeface="Calibri"/>
              </a:defRPr>
            </a:pPr>
            <a: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Bloomberg's Methodology at 1/1,000th the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Vinsight</a:t>
                      </a:r>
                    </a:p>
                  </a:txBody>
                  <a:tcPr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Bloomberg</a:t>
                      </a:r>
                    </a:p>
                  </a:txBody>
                  <a:tcPr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FinChat</a:t>
                      </a:r>
                    </a:p>
                  </a:txBody>
                  <a:tcPr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Robinhood</a:t>
                      </a:r>
                    </a:p>
                  </a:txBody>
                  <a:tcPr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7C5C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$20/mo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$27,660/yr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$30/mo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$20/mo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AI Scoring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CFA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Insider Det.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Filtered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Kill Switches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3 Vetoes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Monte Carlo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 10K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Earnings AI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15 Sectors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Retail Pro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Institutions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Prosumer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Beginners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Everyone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9AF0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Production Architecture (Live on GCP)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AF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Next.js +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Watchlist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74320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FastAPI (Python)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6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NaN-Safe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CORS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74320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Dual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Llama 3.3 (Groq)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Gemini 2.0 (Google)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Formula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3-Level Resilience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828800"/>
            <a:ext cx="274320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Google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Cloud Run (Auto-scale)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Cloud SQL (PostgreSQL)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Secret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→  Docker 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1E1E38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CFA Scorer (587 LOC)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AI Reasoning (358 LOC)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Sentiment (779 LOC)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Earnings (409 LOC)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Monte Carlo (123 LOC)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6080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Insider Detector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From Smart Dashboard → Decision Engine  → AI Analyst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3749039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AF0"/>
                </a:solidFill>
                <a:latin typeface="Calibri"/>
              </a:defRPr>
            </a:pPr>
            <a:r>
              <a:t>Phase 1: Trust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Seed  ·  Months 1-6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Data Migration (Polygon.io)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Eliminate scraping fragility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Citation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Every score links to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Insider Win-Rate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Track executive track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Backtest Engine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Prove scoring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CI/CD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Automated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828800"/>
            <a:ext cx="3749039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  <a:latin typeface="Calibri"/>
              </a:defRPr>
            </a:pPr>
            <a:r>
              <a:t>Phase 2: Build the 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Series A  ·  Months 7-12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Forensic Accounting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Cash flow divergence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Influencer Debunker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URL → fact-check → viral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Relative 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Peer-group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RAG Pipeline (10-K)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Clickable citations to filings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828800"/>
            <a:ext cx="3749039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1CF66"/>
                </a:solidFill>
                <a:latin typeface="Calibri"/>
              </a:defRPr>
            </a:pPr>
            <a:r>
              <a:t>Phase 3: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Growth  ·  Months 12-18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Supply Chain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Cross-asset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Portfolio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Multi-stock correlation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Mobile App (iOS)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Push notification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 Team Tier ($49/mo)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Revenue diversification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Seed Round — Use of Funds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9AF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Forensic Agent, Citation System,</a:t>
            </a:r>
            <a:br/>
            <a:r>
              <a:t>Insider Win-Rate DB, Backtest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74320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5CFC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Polygon.io license, data pipeline,</a:t>
            </a:r>
            <a:br/>
            <a:r>
              <a:t>reliable API migration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74320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1CF66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SEO, content marketing,</a:t>
            </a:r>
            <a:br/>
            <a:r>
              <a:t>"Hype Check" viral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74320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43B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Cloud infra, LLM API costs,</a:t>
            </a:r>
            <a:br/>
            <a:r>
              <a:t>legal,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12471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1CF66"/>
                </a:solidFill>
                <a:latin typeface="Calibri"/>
              </a:defRPr>
            </a:pPr>
            <a:r>
              <a:t>MILESTONES FOR SERIES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1,000 DAU with &gt;40% weekly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Backtest validation — top-quintile scores outperform by &gt;5%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First Agent live (Forensic Accounting or Insider Win-Rate)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263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Revenue signal — 100+ paying Pro users at $20/mo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43B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Four Tailwinds Converging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57784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alibri"/>
              </a:defRPr>
            </a:pPr>
            <a:r>
              <a:t>LLM Costs Dropped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Llama 3.3 via Groq: &lt;$0.001/analysis.</a:t>
            </a:r>
            <a:br/>
            <a:r>
              <a:t>Two years ago, this cost $0.50/call.</a:t>
            </a:r>
            <a:br/>
            <a:r>
              <a:t>AI stock analysis is now economically viable.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57784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alibri"/>
              </a:defRPr>
            </a:pPr>
            <a:r>
              <a:t>Trust in Institutions at All-Time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36% of young investors listen to TikTok over CNBC.</a:t>
            </a:r>
            <a:br/>
            <a:r>
              <a:t>They need a new kind of "analyst" — one they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557784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alibri"/>
              </a:defRPr>
            </a:pPr>
            <a:r>
              <a:t>Core-Satellite Strategy is Mainstream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Every 25-35 year old has Robinhood.</a:t>
            </a:r>
            <a:br/>
            <a:r>
              <a:t>They're all picking 3-5 stocks.</a:t>
            </a:r>
            <a:br/>
            <a:r>
              <a:t>They all need help.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297680"/>
            <a:ext cx="557784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43B"/>
                </a:solidFill>
                <a:latin typeface="Calibri"/>
              </a:defRPr>
            </a:pPr>
            <a:r>
              <a:t>Regulatory Tailwinds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SEC cracking down on influencer pump-and-dump.</a:t>
            </a:r>
            <a:br/>
            <a:r>
              <a:t>Vinsight aligns with the regulatory direction.</a:t>
            </a:r>
            <a:br/>
            <a:r>
              <a:t>Fact-checking becomes table stakes.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286000"/>
            <a:ext cx="1828800" cy="54864"/>
          </a:xfrm>
          <a:prstGeom prst="roundRect">
            <a:avLst/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VINSIGHT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9AF0"/>
                </a:solidFill>
                <a:latin typeface="Calibri"/>
              </a:defRPr>
            </a:pPr>
            <a:r>
              <a:t>Stop Trading on Tweets.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1CF66"/>
                </a:solidFill>
                <a:latin typeface="Calibri"/>
              </a:defRPr>
            </a:pPr>
            <a:r>
              <a:t>Start Investing with Conviction.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AI Conviction Engine for the Next Generation of Investors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669280"/>
            <a:ext cx="4572000" cy="54864"/>
          </a:xfrm>
          <a:prstGeom prst="round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Contact  ·  vinayak@vinsight.ai  ·  vinsight.ai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